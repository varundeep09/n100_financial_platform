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822960"/>
            <a:ext cx="3474720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00" b="1">
                <a:solidFill>
                  <a:srgbClr val="3B82F6"/>
                </a:solidFill>
                <a:latin typeface="Segoe UI"/>
              </a:defRPr>
            </a:pPr>
            <a:r>
              <a:t>BLUESTOCK FINTECH • RESEARCH &amp; DATA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Segoe UI"/>
              </a:defRPr>
            </a:pPr>
            <a:r>
              <a:t>N100 FINANCIAL INTELLIGENCE PLATFORM</a:t>
            </a:r>
          </a:p>
          <a:p>
            <a:pPr>
              <a:defRPr sz="1500">
                <a:solidFill>
                  <a:srgbClr val="94A3B8"/>
                </a:solidFill>
                <a:latin typeface="Segoe UI"/>
              </a:defRPr>
            </a:pPr>
            <a:r>
              <a:t>Institutional-Grade Analytics, Multi-Factor Screening &amp; Intrinsic Valuation Engine for Nifty 100 Non-Financial Equities (FY2015–FY2024)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474720"/>
            <a:ext cx="2423160" cy="13716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sz="950" b="1">
                <a:solidFill>
                  <a:srgbClr val="3B82F6"/>
                </a:solidFill>
                <a:latin typeface="Segoe UI"/>
              </a:defRPr>
            </a:pPr>
            <a:r>
              <a:t>AUTHOR &amp; ARCHITECT</a:t>
            </a:r>
          </a:p>
          <a:p>
            <a:pPr>
              <a:defRPr sz="1300" b="1">
                <a:solidFill>
                  <a:srgbClr val="F8FAFC"/>
                </a:solidFill>
                <a:latin typeface="Segoe UI"/>
              </a:defRPr>
            </a:pPr>
            <a:r>
              <a:t>Varundeep Sengar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Platform Engineering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57016" y="3474720"/>
            <a:ext cx="2423160" cy="13716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sz="950" b="1">
                <a:solidFill>
                  <a:srgbClr val="10B981"/>
                </a:solidFill>
                <a:latin typeface="Segoe UI"/>
              </a:defRPr>
            </a:pPr>
            <a:r>
              <a:t>ORGANIZATION</a:t>
            </a:r>
          </a:p>
          <a:p>
            <a:pPr>
              <a:defRPr sz="1300" b="1">
                <a:solidFill>
                  <a:srgbClr val="F8FAFC"/>
                </a:solidFill>
                <a:latin typeface="Segoe UI"/>
              </a:defRPr>
            </a:pPr>
            <a:r>
              <a:t>Bluestock Fintech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Equity Intelligence Unit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3474720"/>
            <a:ext cx="2423160" cy="13716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sz="950" b="1">
                <a:solidFill>
                  <a:srgbClr val="F59E0B"/>
                </a:solidFill>
                <a:latin typeface="Segoe UI"/>
              </a:defRPr>
            </a:pPr>
            <a:r>
              <a:t>MILESTONE &amp; DATE</a:t>
            </a:r>
          </a:p>
          <a:p>
            <a:pPr>
              <a:defRPr sz="1300" b="1">
                <a:solidFill>
                  <a:srgbClr val="F8FAFC"/>
                </a:solidFill>
                <a:latin typeface="Segoe UI"/>
              </a:defRPr>
            </a:pPr>
            <a:r>
              <a:t>Production Release v1.0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October 2026 (Ahead of Sched.)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42248" y="3474720"/>
            <a:ext cx="2423160" cy="13716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sz="950" b="1">
                <a:solidFill>
                  <a:srgbClr val="8B5CF6"/>
                </a:solidFill>
                <a:latin typeface="Segoe UI"/>
              </a:defRPr>
            </a:pPr>
            <a:r>
              <a:t>QUALITY BENCHMARK</a:t>
            </a:r>
          </a:p>
          <a:p>
            <a:pPr>
              <a:defRPr sz="1300" b="1">
                <a:solidFill>
                  <a:srgbClr val="F8FAFC"/>
                </a:solidFill>
                <a:latin typeface="Segoe UI"/>
              </a:defRPr>
            </a:pPr>
            <a:r>
              <a:t>245 / 245 Tests Passing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100% CI/CD Verified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212080"/>
            <a:ext cx="1920240" cy="384048"/>
          </a:xfrm>
          <a:prstGeom prst="roundRect">
            <a:avLst/>
          </a:prstGeom>
          <a:solidFill>
            <a:srgbClr val="182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00" b="1">
                <a:solidFill>
                  <a:srgbClr val="3B82F6"/>
                </a:solidFill>
                <a:latin typeface="Segoe UI"/>
              </a:defRPr>
            </a:pPr>
            <a:r>
              <a:t>92 Companies Ingested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5212080"/>
            <a:ext cx="1920240" cy="384048"/>
          </a:xfrm>
          <a:prstGeom prst="roundRect">
            <a:avLst/>
          </a:prstGeom>
          <a:solidFill>
            <a:srgbClr val="182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10 Audited Fiscal Years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5212080"/>
            <a:ext cx="1920240" cy="384048"/>
          </a:xfrm>
          <a:prstGeom prst="roundRect">
            <a:avLst/>
          </a:prstGeom>
          <a:solidFill>
            <a:srgbClr val="182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50+ Financial KPIs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5212080"/>
            <a:ext cx="1920240" cy="384048"/>
          </a:xfrm>
          <a:prstGeom prst="roundRect">
            <a:avLst/>
          </a:prstGeom>
          <a:solidFill>
            <a:srgbClr val="182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23 Verified Deliverables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5212080"/>
            <a:ext cx="1920240" cy="384048"/>
          </a:xfrm>
          <a:prstGeom prst="roundRect">
            <a:avLst/>
          </a:prstGeom>
          <a:solidFill>
            <a:srgbClr val="182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16 FastAPI Endpoints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Segoe UI"/>
              </a:defRPr>
            </a:pPr>
            <a:r>
              <a:t>PROJECT MOTIVATION &amp; PROBLEM STATEMENT</a:t>
            </a:r>
          </a:p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Why This Platform Exists: Institutional Investment Bottlenecks</a:t>
            </a:r>
          </a:p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Addressing structural data fragmentation and manual analysis hurdles in Indian equity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Segoe UI"/>
              </a:rPr>
              <a:t>N100 Financial Intelligence Platform  •  Bluestock Fintech  •  Varundeep Sengar</a:t>
            </a:r>
          </a:p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Slide 2 of 12  |  Production v1.0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13716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sz="1250" b="1">
                <a:solidFill>
                  <a:srgbClr val="3B82F6"/>
                </a:solidFill>
                <a:latin typeface="Segoe UI"/>
              </a:defRPr>
            </a:pPr>
            <a:r>
              <a:t>1. Fragmented Financial Data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Raw regulatory disclosures across BSE, NSE, and Screener.in are siloed across disparate Excel spreadsheets with conflicting schemas, inconsistent line items, and shifting fiscal definitions.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13716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sz="1250" b="1">
                <a:solidFill>
                  <a:srgbClr val="10B981"/>
                </a:solidFill>
                <a:latin typeface="Segoe UI"/>
              </a:defRPr>
            </a:pPr>
            <a:r>
              <a:t>2. No Unified Equity Screener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Fundamental analysts lack a multi-factor quantitative screening engine capable of filtering across balance sheet solvency, cash flow quality, DuPont returns, and valuation percentiles simultaneously.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5212080" cy="13716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sz="1250" b="1">
                <a:solidFill>
                  <a:srgbClr val="F59E0B"/>
                </a:solidFill>
                <a:latin typeface="Segoe UI"/>
              </a:defRPr>
            </a:pPr>
            <a:r>
              <a:t>3. Manual Ratio &amp; Margin Computations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Analysts spend hundreds of hours manually recalculating DuPont models, CAGR trajectories, and working capital cycles across 10 fiscal years, introducing high operational and calculation error risk.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017520"/>
            <a:ext cx="5212080" cy="13716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sz="1250" b="1">
                <a:solidFill>
                  <a:srgbClr val="8B5CF6"/>
                </a:solidFill>
                <a:latin typeface="Segoe UI"/>
              </a:defRPr>
            </a:pPr>
            <a:r>
              <a:t>4. Absence of Peer Group Benchmarking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Valuation and efficiency metrics cannot be interpreted in a vacuum. Lack of normalized percentile rankings, industry-specific peer groups, and dynamic radar charts obscures true competitive moats.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72000"/>
            <a:ext cx="10698480" cy="13716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sz="1250" b="1">
                <a:solidFill>
                  <a:srgbClr val="06B6D4"/>
                </a:solidFill>
                <a:latin typeface="Segoe UI"/>
              </a:defRPr>
            </a:pPr>
            <a:r>
              <a:t>5. No Automated Reporting &amp; Deliverables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Production of executive tearsheets, sector deep-dives, and audit-ready financial models requires days of repetitive desktop publishing instead of automated, reproducible reporting pipelines.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Segoe UI"/>
              </a:defRPr>
            </a:pPr>
            <a:r>
              <a:t>SYSTEM ARCHITECTURE &amp; TECHNICAL SPECIFICATION</a:t>
            </a:r>
          </a:p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Platform Architecture: 7-Layer Production Stack</a:t>
            </a:r>
          </a:p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A decoupled, audit-grade data pipeline from raw unstructured filings to low-latency APIs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Segoe UI"/>
              </a:rPr>
              <a:t>N100 Financial Intelligence Platform  •  Bluestock Fintech  •  Varundeep Sengar</a:t>
            </a:r>
          </a:p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Slide 3 of 12  |  Production v1.0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698480" cy="621792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/>
            <a:r>
              <a:rPr sz="1100" b="1">
                <a:solidFill>
                  <a:srgbClr val="3B82F6"/>
                </a:solidFill>
                <a:latin typeface="Segoe UI"/>
              </a:rPr>
              <a:t>[L1] RAW INGESTION: </a:t>
            </a:r>
            <a:r>
              <a:rPr sz="950">
                <a:solidFill>
                  <a:srgbClr val="CBD5E1"/>
                </a:solidFill>
                <a:latin typeface="Segoe UI"/>
              </a:rPr>
              <a:t>12 raw source Excel workbooks, SHA-256 checksum tracking, metadata manifest  </a:t>
            </a:r>
            <a:r>
              <a:rPr sz="850">
                <a:solidFill>
                  <a:srgbClr val="94A3B8"/>
                </a:solidFill>
                <a:latin typeface="Segoe UI"/>
              </a:rPr>
              <a:t>(pandas, openpyxl)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39696"/>
            <a:ext cx="10698480" cy="621792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/>
            <a:r>
              <a:rPr sz="1100" b="1">
                <a:solidFill>
                  <a:srgbClr val="10B981"/>
                </a:solidFill>
                <a:latin typeface="Segoe UI"/>
              </a:rPr>
              <a:t>[L2] ETL &amp; NORMALIZATION: </a:t>
            </a:r>
            <a:r>
              <a:rPr sz="950">
                <a:solidFill>
                  <a:srgbClr val="CBD5E1"/>
                </a:solidFill>
                <a:latin typeface="Segoe UI"/>
              </a:rPr>
              <a:t>Schema unification, banking-statement separation, column shift recovery  </a:t>
            </a:r>
            <a:r>
              <a:rPr sz="850">
                <a:solidFill>
                  <a:srgbClr val="94A3B8"/>
                </a:solidFill>
                <a:latin typeface="Segoe UI"/>
              </a:rPr>
              <a:t>(numpy, regex)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16352"/>
            <a:ext cx="10698480" cy="621792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/>
            <a:r>
              <a:rPr sz="1100" b="1">
                <a:solidFill>
                  <a:srgbClr val="F59E0B"/>
                </a:solidFill>
                <a:latin typeface="Segoe UI"/>
              </a:rPr>
              <a:t>[L3] DATA WAREHOUSE: </a:t>
            </a:r>
            <a:r>
              <a:rPr sz="950">
                <a:solidFill>
                  <a:srgbClr val="CBD5E1"/>
                </a:solidFill>
                <a:latin typeface="Segoe UI"/>
              </a:rPr>
              <a:t>10 normalized relational SQLite tables (db/nifty100.db, 1,155 ratio rows)  </a:t>
            </a:r>
            <a:r>
              <a:rPr sz="850">
                <a:solidFill>
                  <a:srgbClr val="94A3B8"/>
                </a:solidFill>
                <a:latin typeface="Segoe UI"/>
              </a:rPr>
              <a:t>(sqlite3, sql)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93008"/>
            <a:ext cx="10698480" cy="621792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/>
            <a:r>
              <a:rPr sz="1100" b="1">
                <a:solidFill>
                  <a:srgbClr val="8B5CF6"/>
                </a:solidFill>
                <a:latin typeface="Segoe UI"/>
              </a:rPr>
              <a:t>[L4] ANALYTICS ENGINE: </a:t>
            </a:r>
            <a:r>
              <a:rPr sz="950">
                <a:solidFill>
                  <a:srgbClr val="CBD5E1"/>
                </a:solidFill>
                <a:latin typeface="Segoe UI"/>
              </a:rPr>
              <a:t>50+ KPIs, 3/5/10-yr CAGR, capital allocation, DuPont decomposition  </a:t>
            </a:r>
            <a:r>
              <a:rPr sz="850">
                <a:solidFill>
                  <a:srgbClr val="94A3B8"/>
                </a:solidFill>
                <a:latin typeface="Segoe UI"/>
              </a:rPr>
              <a:t>(scipy, numpy)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69664"/>
            <a:ext cx="10698480" cy="621792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/>
            <a:r>
              <a:rPr sz="1100" b="1">
                <a:solidFill>
                  <a:srgbClr val="06B6D4"/>
                </a:solidFill>
                <a:latin typeface="Segoe UI"/>
              </a:rPr>
              <a:t>[L5] SCREENER &amp; RANKING: </a:t>
            </a:r>
            <a:r>
              <a:rPr sz="950">
                <a:solidFill>
                  <a:srgbClr val="CBD5E1"/>
                </a:solidFill>
                <a:latin typeface="Segoe UI"/>
              </a:rPr>
              <a:t>6 production presets, multi-pillar composite percentile ranking score  </a:t>
            </a:r>
            <a:r>
              <a:rPr sz="850">
                <a:solidFill>
                  <a:srgbClr val="94A3B8"/>
                </a:solidFill>
                <a:latin typeface="Segoe UI"/>
              </a:rPr>
              <a:t>(screener_config.yaml)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46320"/>
            <a:ext cx="10698480" cy="621792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/>
            <a:r>
              <a:rPr sz="1100" b="1">
                <a:solidFill>
                  <a:srgbClr val="EC4899"/>
                </a:solidFill>
                <a:latin typeface="Segoe UI"/>
              </a:rPr>
              <a:t>[L6] INTELLIGENCE &amp; ML: </a:t>
            </a:r>
            <a:r>
              <a:rPr sz="950">
                <a:solidFill>
                  <a:srgbClr val="CBD5E1"/>
                </a:solidFill>
                <a:latin typeface="Segoe UI"/>
              </a:rPr>
              <a:t>KMeans 5-cluster market segmentation, rule-based NLP pros/cons generator  </a:t>
            </a:r>
            <a:r>
              <a:rPr sz="850">
                <a:solidFill>
                  <a:srgbClr val="94A3B8"/>
                </a:solidFill>
                <a:latin typeface="Segoe UI"/>
              </a:rPr>
              <a:t>(scikit-learn, nltk)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522976"/>
            <a:ext cx="10698480" cy="621792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/>
            <a:r>
              <a:rPr sz="1100" b="1">
                <a:solidFill>
                  <a:srgbClr val="F97316"/>
                </a:solidFill>
                <a:latin typeface="Segoe UI"/>
              </a:rPr>
              <a:t>[L7] DELIVERY &amp; APIS: </a:t>
            </a:r>
            <a:r>
              <a:rPr sz="950">
                <a:solidFill>
                  <a:srgbClr val="CBD5E1"/>
                </a:solidFill>
                <a:latin typeface="Segoe UI"/>
              </a:rPr>
              <a:t>8-screen Streamlit dashboard, 16 FastAPI endpoints, 92 PDF tearsheets  </a:t>
            </a:r>
            <a:r>
              <a:rPr sz="850">
                <a:solidFill>
                  <a:srgbClr val="94A3B8"/>
                </a:solidFill>
                <a:latin typeface="Segoe UI"/>
              </a:rPr>
              <a:t>(fastapi, streamlit)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Segoe UI"/>
              </a:defRPr>
            </a:pPr>
            <a:r>
              <a:t>SPRINT 1 • DATA FOUNDATION &amp; FORENSIC INGESTION</a:t>
            </a:r>
          </a:p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Sprint 1: Data Foundation &amp; Integrity Audit</a:t>
            </a:r>
          </a:p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Forensic normalization across 92 companies, 10 tables, and 16 automated DQ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Segoe UI"/>
              </a:rPr>
              <a:t>N100 Financial Intelligence Platform  •  Bluestock Fintech  •  Varundeep Sengar</a:t>
            </a:r>
          </a:p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Slide 4 of 12  |  Production v1.0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2514600" cy="365760"/>
          </a:xfrm>
          <a:prstGeom prst="roundRect">
            <a:avLst/>
          </a:prstGeom>
          <a:solidFill>
            <a:srgbClr val="182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00" b="1">
                <a:solidFill>
                  <a:srgbClr val="3B82F6"/>
                </a:solidFill>
                <a:latin typeface="Segoe UI"/>
              </a:defRPr>
            </a:pPr>
            <a:r>
              <a:t>12 Source Files Ingested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5576" y="1463040"/>
            <a:ext cx="2514600" cy="365760"/>
          </a:xfrm>
          <a:prstGeom prst="roundRect">
            <a:avLst/>
          </a:prstGeom>
          <a:solidFill>
            <a:srgbClr val="182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92 Unified Companies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463040"/>
            <a:ext cx="2514600" cy="365760"/>
          </a:xfrm>
          <a:prstGeom prst="roundRect">
            <a:avLst/>
          </a:prstGeom>
          <a:solidFill>
            <a:srgbClr val="182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10 SQLite Relational Tables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33688" y="1463040"/>
            <a:ext cx="2514600" cy="365760"/>
          </a:xfrm>
          <a:prstGeom prst="roundRect">
            <a:avLst/>
          </a:prstGeom>
          <a:solidFill>
            <a:srgbClr val="182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16 Automated DQ Rules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011680"/>
            <a:ext cx="3383280" cy="41148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sz="1250" b="1">
                <a:solidFill>
                  <a:srgbClr val="3B82F6"/>
                </a:solidFill>
                <a:latin typeface="Segoe UI"/>
              </a:defRPr>
            </a:pPr>
            <a:r>
              <a:t>Relational Database Schema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Designed a clean SQLite data warehouse (db/nifty100.db) with 10 tables: companies, financial_statements, quarterly_statements, financial_ratios, capital_allocation, peer_groups, peer_percentiles, documents, screener_runs, and cluster_labels. Strict primary and foreign key constraints enforce referential integrity across all queries.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011680"/>
            <a:ext cx="3383280" cy="41148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sz="1250" b="1">
                <a:solidFill>
                  <a:srgbClr val="10B981"/>
                </a:solidFill>
                <a:latin typeface="Segoe UI"/>
              </a:defRPr>
            </a:pPr>
            <a:r>
              <a:t>16 Forensic Data Quality Rules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Implemented automated auditing verifying the fundamental accounting identity (Assets = Liabilities + Equity), checking for non-negative revenues, detecting cash flow reconciliation imbalances, and validating corporate filing links. Automated audit reports generated at reports/load_audit.csv and validation_failures.csv.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011680"/>
            <a:ext cx="3383280" cy="41148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sz="1250" b="1">
                <a:solidFill>
                  <a:srgbClr val="F59E0B"/>
                </a:solidFill>
                <a:latin typeface="Segoe UI"/>
              </a:defRPr>
            </a:pPr>
            <a:r>
              <a:t>Key Forensic Breakthroughs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1. Orphan Ticker Harmonization: Resolved mismatched company identifiers across files (e.g. M&amp;M, L&amp;T, MCDOWELL-N, BAJAJ-AUTO) preventing silent data loss.</a:t>
            </a:r>
            <a:br/>
            <a:r>
              <a:t>2. Banking Template Shift Discovery: Uncovered that commercial banks follow RBI-mandated schedules where standard industrial P&amp;L/BS columns shift; built dedicated banking normalizers and audit exemptions.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Segoe UI"/>
              </a:defRPr>
            </a:pPr>
            <a:r>
              <a:t>SPRINT 2 • FINANCIAL RATIO ENGINE &amp; EDGE CASES</a:t>
            </a:r>
          </a:p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Sprint 2: Financial Ratio Engine &amp; Edge Cases</a:t>
            </a:r>
          </a:p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50+ institutional KPIs computed across 1,155 historical annual records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Segoe UI"/>
              </a:rPr>
              <a:t>N100 Financial Intelligence Platform  •  Bluestock Fintech  •  Varundeep Sengar</a:t>
            </a:r>
          </a:p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Slide 5 of 12  |  Production v1.0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2514600" cy="365760"/>
          </a:xfrm>
          <a:prstGeom prst="roundRect">
            <a:avLst/>
          </a:prstGeom>
          <a:solidFill>
            <a:srgbClr val="182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00" b="1">
                <a:solidFill>
                  <a:srgbClr val="3B82F6"/>
                </a:solidFill>
                <a:latin typeface="Segoe UI"/>
              </a:defRPr>
            </a:pPr>
            <a:r>
              <a:t>50+ Institutional KPIs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5576" y="1463040"/>
            <a:ext cx="2514600" cy="365760"/>
          </a:xfrm>
          <a:prstGeom prst="roundRect">
            <a:avLst/>
          </a:prstGeom>
          <a:solidFill>
            <a:srgbClr val="182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1,155 Historical Rows in DB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463040"/>
            <a:ext cx="2514600" cy="365760"/>
          </a:xfrm>
          <a:prstGeom prst="roundRect">
            <a:avLst/>
          </a:prstGeom>
          <a:solidFill>
            <a:srgbClr val="182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10 Audited Years (FY15-FY24)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33688" y="1463040"/>
            <a:ext cx="2514600" cy="365760"/>
          </a:xfrm>
          <a:prstGeom prst="roundRect">
            <a:avLst/>
          </a:prstGeom>
          <a:solidFill>
            <a:srgbClr val="182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Full DuPont 5-Stage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011680"/>
            <a:ext cx="3383280" cy="41148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sz="1200" b="1">
                <a:solidFill>
                  <a:srgbClr val="3B82F6"/>
                </a:solidFill>
                <a:latin typeface="Segoe UI"/>
              </a:defRPr>
            </a:pPr>
            <a:r>
              <a:t>Comprehensive 50+ KPI Suite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• Profitability: ROE, ROCE, Operating Margin (OPM), Net Margin (NPM), Return on Assets (ROA).</a:t>
            </a:r>
            <a:br/>
            <a:r>
              <a:t>• Solvency &amp; Capital: Debt-to-Equity (D/E), Interest Coverage Ratio (ICR), Net Debt, Net Debt/EBITDA.</a:t>
            </a:r>
            <a:br/>
            <a:r>
              <a:t>• Operating Efficiency: Debtor Days, Inventory Days, Working Capital Days, Cash Conversion Cycle (CCC).</a:t>
            </a:r>
            <a:br/>
            <a:r>
              <a:t>• Valuation Multiples: PE, PB, EV/EBITDA, Dividend Yield.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011680"/>
            <a:ext cx="3383280" cy="41148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DuPont 3-Stage &amp; 5-Stage Decompositions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• 3-Stage DuPont: Breaks down Return on Equity into Net Margin × Asset Turnover × Financial Leverage.</a:t>
            </a:r>
            <a:br/>
            <a:r>
              <a:t>• 5-Stage DuPont: Isolates Tax Burden × Interest Burden × Operating Margin × Asset Turnover × Leverage.</a:t>
            </a:r>
            <a:br/>
            <a:r>
              <a:t>• Reveals whether ROE expansion is driven by genuine operating moat vs. aggressive financial leverage.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011680"/>
            <a:ext cx="3383280" cy="41148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Critical Analytical Edge Cases Solved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• CAGR Windowing Bug: Resolved strict multi-year period offset logic ensuring exact geometric compound growth rates across leap years and fiscal alignments.</a:t>
            </a:r>
            <a:br/>
            <a:r>
              <a:t>• BEL / HAL Scale Discrepancies: Identified order-of-magnitude source scale errors in public balance sheets; neutralized corrupt ratios.</a:t>
            </a:r>
            <a:br/>
            <a:r>
              <a:t>• Banking Model Isolation: Segregated banking business models from industrial debt and margin calculations.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Segoe UI"/>
              </a:defRPr>
            </a:pPr>
            <a:r>
              <a:t>SPRINT 3 • MULTI-FACTOR SCREENER &amp; PEER BENCHMARKING</a:t>
            </a:r>
          </a:p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Sprint 3: Screener Engine &amp; Peer Benchmarking</a:t>
            </a:r>
          </a:p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Automated multi-factor filtering, composite ranking, and 92 radar visualizations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Segoe UI"/>
              </a:rPr>
              <a:t>N100 Financial Intelligence Platform  •  Bluestock Fintech  •  Varundeep Sengar</a:t>
            </a:r>
          </a:p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Slide 6 of 12  |  Production v1.0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20574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sz="1200" b="1">
                <a:solidFill>
                  <a:srgbClr val="3B82F6"/>
                </a:solidFill>
                <a:latin typeface="Segoe UI"/>
              </a:defRPr>
            </a:pPr>
            <a:r>
              <a:t>6 Production Screener Presets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Configured via screener_config.yaml:</a:t>
            </a:r>
            <a:br/>
            <a:r>
              <a:t>• Quality Compounders: ROE &gt; 15%, D/E &lt; 0.5, OPM &gt; 15%</a:t>
            </a:r>
            <a:br/>
            <a:r>
              <a:t>• Value Picks: Low PE, high interest coverage, positive FCF</a:t>
            </a:r>
            <a:br/>
            <a:r>
              <a:t>• Dividend Aristocrats: Consistent payouts, low debt</a:t>
            </a:r>
            <a:br/>
            <a:r>
              <a:t>• Growth Rockets: Accelerating 3-yr revenue &amp; EBITDA CAGR</a:t>
            </a:r>
            <a:br/>
            <a:r>
              <a:t>• Asset-Light Champions: High ROCE (&gt;20%), low capex/CFO</a:t>
            </a:r>
            <a:br/>
            <a:r>
              <a:t>• Financial Health Fortress: Net debt negative, ICR &gt; 5.0x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0574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Composite Ranking Engine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Multi-Pillar Weighted Percentile Scoring:</a:t>
            </a:r>
            <a:br/>
            <a:r>
              <a:t>• Profitability (30%): ROE, ROCE, Operating Margin</a:t>
            </a:r>
            <a:br/>
            <a:r>
              <a:t>• Solvency &amp; Health (25%): Debt-to-Equity, Net Debt</a:t>
            </a:r>
            <a:br/>
            <a:r>
              <a:t>• Growth Momentum (25%): 3-Year Revenue &amp; PAT CAGR</a:t>
            </a:r>
            <a:br/>
            <a:r>
              <a:t>• Valuation Prudence (20%): Trailing PE &amp; PB multiples</a:t>
            </a:r>
            <a:br/>
            <a:br/>
            <a:r>
              <a:t>Features automated Winsorization (1st–99th percentiles) to prevent extreme outlier score distortions.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20574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92 Vector Radar Charts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Benchmarking each company against peer median:</a:t>
            </a:r>
            <a:br/>
            <a:r>
              <a:t>• 6 Standardized Axes: ROE, ROCE, OPM, 3-Yr CAGR, ICR, Cash Flow Conversion</a:t>
            </a:r>
            <a:br/>
            <a:r>
              <a:t>• Visualizes economic moat asymmetry in single glance</a:t>
            </a:r>
            <a:br/>
            <a:r>
              <a:t>• Generated as high-resolution PNGs at reports/radar_charts/</a:t>
            </a:r>
            <a:br/>
            <a:r>
              <a:t>• Embedded directly into PDF tearsheets and Streamlit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12080" cy="20574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sz="1200" b="1">
                <a:solidFill>
                  <a:srgbClr val="8B5CF6"/>
                </a:solidFill>
                <a:latin typeface="Segoe UI"/>
              </a:defRPr>
            </a:pPr>
            <a:r>
              <a:t>11 Curated Peer Groups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Cross-Sectional Benchmark Workbooks:</a:t>
            </a:r>
            <a:br/>
            <a:r>
              <a:t>• Sectors: IT Services, Automobiles, Pharma, FMCG, Oil &amp; Gas, Capital Goods, Metals, Power, Telecom, Chemicals, Diversified</a:t>
            </a:r>
            <a:br/>
            <a:r>
              <a:t>• Multi-tab Excel workbook (reports/peer_comparison.xlsx)</a:t>
            </a:r>
            <a:br/>
            <a:r>
              <a:t>• Full intra-sector percentile rankings (1–100) and automated 'Best in Class' and 'Watch List' flags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Segoe UI"/>
              </a:defRPr>
            </a:pPr>
            <a:r>
              <a:t>SPRINT 4 • INTERACTIVE DASHBOARD &amp; VALUATION ENGINE</a:t>
            </a:r>
          </a:p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Sprint 4: Streamlit Financial Intelligence Dashboard</a:t>
            </a:r>
          </a:p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8 feature-rich interactive screens engineered for fundamental equity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Segoe UI"/>
              </a:rPr>
              <a:t>N100 Financial Intelligence Platform  •  Bluestock Fintech  •  Varundeep Sengar</a:t>
            </a:r>
          </a:p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Slide 7 of 12  |  Production v1.0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14600" cy="1965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sz="1150" b="1">
                <a:solidFill>
                  <a:srgbClr val="3B82F6"/>
                </a:solidFill>
                <a:latin typeface="Segoe UI"/>
              </a:defRPr>
            </a:pPr>
            <a:r>
              <a:t>1. Home / Universe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Macro aggregates, sector distribution, and real-time data recency timestamp (2024-09).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5576" y="1645920"/>
            <a:ext cx="2514600" cy="1965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sz="1150" b="1">
                <a:solidFill>
                  <a:srgbClr val="10B981"/>
                </a:solidFill>
                <a:latin typeface="Segoe UI"/>
              </a:defRPr>
            </a:pPr>
            <a:r>
              <a:t>2. Company Profile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Core KPI cards, DuPont decomposition, peer benchmarking, transparent DQ warnings for SBIN/BEL/HAL.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645920"/>
            <a:ext cx="2514600" cy="1965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sz="1150" b="1">
                <a:solidFill>
                  <a:srgbClr val="F59E0B"/>
                </a:solidFill>
                <a:latin typeface="Segoe UI"/>
              </a:defRPr>
            </a:pPr>
            <a:r>
              <a:t>3. Financial Screener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Custom threshold sliders, preset execution, and one-click formatted Excel report export.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33688" y="1645920"/>
            <a:ext cx="2514600" cy="1965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sz="1150" b="1">
                <a:solidFill>
                  <a:srgbClr val="8B5CF6"/>
                </a:solidFill>
                <a:latin typeface="Segoe UI"/>
              </a:defRPr>
            </a:pPr>
            <a:r>
              <a:t>4. Peer Comparison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Interactive 6-axis radar charts, intra-industry percentile heatmap, best-in-class badges.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86200"/>
            <a:ext cx="2514600" cy="1965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sz="1150" b="1">
                <a:solidFill>
                  <a:srgbClr val="06B6D4"/>
                </a:solidFill>
                <a:latin typeface="Segoe UI"/>
              </a:defRPr>
            </a:pPr>
            <a:r>
              <a:t>5. Sector Analytics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ROCE vs. OPM cross-sector scatter plots, margin distributions, and sector capital allocation.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5576" y="3886200"/>
            <a:ext cx="2514600" cy="1965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sz="1150" b="1">
                <a:solidFill>
                  <a:srgbClr val="EC4899"/>
                </a:solidFill>
                <a:latin typeface="Segoe UI"/>
              </a:defRPr>
            </a:pPr>
            <a:r>
              <a:t>6. Cash Flow Intelligence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10-year capital allocation stacked bars (Capex vs. Dividends), CFO/PAT ratio stress testing.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3886200"/>
            <a:ext cx="2514600" cy="1965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sz="1150" b="1">
                <a:solidFill>
                  <a:srgbClr val="F97316"/>
                </a:solidFill>
                <a:latin typeface="Segoe UI"/>
              </a:defRPr>
            </a:pPr>
            <a:r>
              <a:t>7. Trend &amp; Growth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3/5/10-year revenue and PAT CAGR analysis, YoY trajectory tracking across 10 audited years.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33688" y="3886200"/>
            <a:ext cx="2514600" cy="1965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sz="1150" b="1">
                <a:solidFill>
                  <a:srgbClr val="A855F7"/>
                </a:solidFill>
                <a:latin typeface="Segoe UI"/>
              </a:defRPr>
            </a:pPr>
            <a:r>
              <a:t>8. Valuation Engine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Historical PE/PB valuation bands, 2-stage DCF intrinsic valuation model with sensitivity matrices.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Segoe UI"/>
              </a:defRPr>
            </a:pPr>
            <a:r>
              <a:t>SPRINT 5 • EXECUTIVE PUBLICATIONS &amp; NLP INTELLIGENCE</a:t>
            </a:r>
          </a:p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Sprint 5: Executive Reports &amp; NLP Intelligence</a:t>
            </a:r>
          </a:p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Automated camera-ready PDF publications and algorithmic qualitative sentiment synthesis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Segoe UI"/>
              </a:rPr>
              <a:t>N100 Financial Intelligence Platform  •  Bluestock Fintech  •  Varundeep Sengar</a:t>
            </a:r>
          </a:p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Slide 8 of 12  |  Production v1.0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20574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sz="1200" b="1">
                <a:solidFill>
                  <a:srgbClr val="3B82F6"/>
                </a:solidFill>
                <a:latin typeface="Segoe UI"/>
              </a:defRPr>
            </a:pPr>
            <a:r>
              <a:t>92 Single-Page PDF Tearsheets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Institutional Investment Briefs (reports/tearsheets/{ticker}_tearsheet.pdf):</a:t>
            </a:r>
            <a:br/>
            <a:r>
              <a:t>• Full 10-year audited financial history table (P&amp;L, Balance Sheet, Cash Flow)</a:t>
            </a:r>
            <a:br/>
            <a:r>
              <a:t>• Embedded vector radar chart benchmarking company against sector peer median</a:t>
            </a:r>
            <a:br/>
            <a:r>
              <a:t>• Visual capital allocation breakdown: Operating Cash Flow vs. Organic Capex</a:t>
            </a:r>
            <a:br/>
            <a:r>
              <a:t>• Composite Score badge and auto-generated qualitative Pros &amp; Cons bullets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0574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11 Sector Deep-Dive Research Reports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Comprehensive 6-Page Industry Publications (reports/sector_reports/):</a:t>
            </a:r>
            <a:br/>
            <a:r>
              <a:t>• Detailed competitive landscape analysis covering all 11 non-financial sectors</a:t>
            </a:r>
            <a:br/>
            <a:r>
              <a:t>• Aggregate sector financial statements, historical margin trends, and return distributions</a:t>
            </a:r>
            <a:br/>
            <a:r>
              <a:t>• Intra-sector percentile ranking tables identifying Best-in-Class vs. Watch List</a:t>
            </a:r>
            <a:br/>
            <a:r>
              <a:t>• Valuation multiple dispersion analysis across market cycles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20574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Macro Portfolio Summary Report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Cross-Universe Executive Study (reports/portfolio_summary.pdf):</a:t>
            </a:r>
            <a:br/>
            <a:r>
              <a:t>• Macro-level Nifty 100 non-financial index overview across 10 fiscal years</a:t>
            </a:r>
            <a:br/>
            <a:r>
              <a:t>• Universe-wide aggregate capital returns, operating margin trends, and leverage evolution</a:t>
            </a:r>
            <a:br/>
            <a:r>
              <a:t>• Cross-sector capital allocation breakdown isolating shareholder returns from debt paydown</a:t>
            </a:r>
            <a:br/>
            <a:r>
              <a:t>• High-risk exposure analysis and systemic balance sheet stress testing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12080" cy="20574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sz="1200" b="1">
                <a:solidFill>
                  <a:srgbClr val="8B5CF6"/>
                </a:solidFill>
                <a:latin typeface="Segoe UI"/>
              </a:defRPr>
            </a:pPr>
            <a:r>
              <a:t>Algorithmic Pros &amp; Cons Generator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Audited Qualitative Synthesis (data/processed/pros_cons_generated.csv):</a:t>
            </a:r>
            <a:br/>
            <a:r>
              <a:t>• Rule-based NLP heuristics synthesizing balance sheet strength and earnings quality</a:t>
            </a:r>
            <a:br/>
            <a:r>
              <a:t>• Produces 2-4 verified strengths and 1-3 risk watchpoints per company</a:t>
            </a:r>
            <a:br/>
            <a:r>
              <a:t>• 100% universe coverage (all 92 companies have high-confidence pros and cons)</a:t>
            </a:r>
            <a:br/>
            <a:r>
              <a:t>• Confidence scoring algorithm verifying statements against numeric ratios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Segoe UI"/>
              </a:defRPr>
            </a:pPr>
            <a:r>
              <a:t>SPRINT 6 • REST API &amp; MACHINE LEARNING CLUSTERING</a:t>
            </a:r>
          </a:p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Sprint 6: REST API &amp; Machine Learning Clustering</a:t>
            </a:r>
          </a:p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Sub-50ms quantitative microservices and structural market archetypes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Segoe UI"/>
              </a:rPr>
              <a:t>N100 Financial Intelligence Platform  •  Bluestock Fintech  •  Varundeep Sengar</a:t>
            </a:r>
          </a:p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Slide 9 of 12  |  Production v1.0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38404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sz="1200" b="1">
                <a:solidFill>
                  <a:srgbClr val="3B82F6"/>
                </a:solidFill>
                <a:latin typeface="Segoe UI"/>
              </a:defRPr>
            </a:pPr>
            <a:r>
              <a:t>16 High-Performance FastAPI Endpoints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• Full RESTful Suite: Company profiles, multi-year ratio histories, financial statements, screener presets, peer rankings, and direct PDF downloads.</a:t>
            </a:r>
            <a:br/>
            <a:r>
              <a:t>• High Concurrency: Asynchronous architecture with LRU memory caching ensuring sub-50ms response times for quantitative trading workflows.</a:t>
            </a:r>
            <a:br/>
            <a:r>
              <a:t>• Strict Data Contracts: Powered by Pydantic v2 validation models with strict schema typing.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38404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Interactive OpenAPI / Swagger Integration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• Interactive Developer Portal: Fully documented Swagger UI and ReDoc accessible at http://localhost:8000/docs.</a:t>
            </a:r>
            <a:br/>
            <a:r>
              <a:t>• Machine-Readable OpenAPI 3.1: Exported schema at docs/openapi.json enabling automated client generation across Python, TypeScript, and R.</a:t>
            </a:r>
            <a:br/>
            <a:r>
              <a:t>• Error Standards: Standardized HTTP status codes (200, 404, 422, 500) with detailed error diagnostics.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38404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KMeans 5-Cluster Market Segmentation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Unsupervised fundamental clustering across 89 non-distorted companies:</a:t>
            </a:r>
            <a:br/>
            <a:r>
              <a:t>• Cluster 0: High-Margin Moat Champions (IT Services &amp; FMCG; ROCE &gt; 35%, zero net debt)</a:t>
            </a:r>
            <a:br/>
            <a:r>
              <a:t>• Cluster 1: Capital-Intensive Industrial Compounds (Power &amp; Steel; high asset base, leverage)</a:t>
            </a:r>
            <a:br/>
            <a:r>
              <a:t>• Cluster 2: High-Growth Scalers (Accelerating revenue CAGR, reinvesting CFO)</a:t>
            </a:r>
            <a:br/>
            <a:r>
              <a:t>• Cluster 3: Leverage-Sensitive Turnarounds (Elevated debt, recovery potential)</a:t>
            </a:r>
            <a:br/>
            <a:r>
              <a:t>• Cluster 4: Cash-Rich Defensive Cash Cows (Mature cash generators, dividend focus)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623560"/>
            <a:ext cx="10698480" cy="594360"/>
          </a:xfrm>
          <a:prstGeom prst="roundRect">
            <a:avLst/>
          </a:prstGeom>
          <a:solidFill>
            <a:srgbClr val="18212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/>
            <a:r>
              <a:rPr b="1" sz="1050">
                <a:solidFill>
                  <a:srgbClr val="10B981"/>
                </a:solidFill>
              </a:rPr>
              <a:t>✓ QUALITY ASSURANCE BENCHMARK:  </a:t>
            </a:r>
            <a:r>
              <a:rPr sz="1000">
                <a:solidFill>
                  <a:srgbClr val="CBD5E1"/>
                </a:solidFill>
              </a:rPr>
              <a:t>245 / 245 Automated Tests Passing across ETL, Data Quality, KPI Engine, Screener, and API Endpoints (100% Pass Rate in Pytest HTML Report).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Segoe UI"/>
              </a:defRPr>
            </a:pPr>
            <a:r>
              <a:t>EMPIRICAL DISCOVERIES &amp; DATA INTELLIGENCE</a:t>
            </a:r>
          </a:p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Analytical Breakthroughs: 5 Discoveries from N100 Data</a:t>
            </a:r>
          </a:p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Empirical insights uncovered through forensic data engineering and financial ratio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Segoe UI"/>
              </a:rPr>
              <a:t>N100 Financial Intelligence Platform  •  Bluestock Fintech  •  Varundeep Sengar</a:t>
            </a:r>
          </a:p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Slide 10 of 12  |  Production v1.0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698480" cy="777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/>
            <a:r>
              <a:rPr sz="1150" b="1">
                <a:solidFill>
                  <a:srgbClr val="3B82F6"/>
                </a:solidFill>
                <a:latin typeface="Segoe UI"/>
              </a:rPr>
              <a:t>1. IT Sector Valuation Moat:  </a:t>
            </a:r>
            <a:r>
              <a:rPr sz="1000">
                <a:solidFill>
                  <a:srgbClr val="CBD5E1"/>
                </a:solidFill>
                <a:latin typeface="Segoe UI"/>
              </a:rPr>
              <a:t>Indian IT Services companies exhibit median ROCE &gt; 40% and negligible net debt, sustaining 10-year median valuation premiums exceeding 25x PE across all market cycles.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32888"/>
            <a:ext cx="10698480" cy="777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/>
            <a:r>
              <a:rPr sz="1150" b="1">
                <a:solidFill>
                  <a:srgbClr val="10B981"/>
                </a:solidFill>
                <a:latin typeface="Segoe UI"/>
              </a:rPr>
              <a:t>2. Scarcity of Quality Compounders:  </a:t>
            </a:r>
            <a:r>
              <a:rPr sz="1000">
                <a:solidFill>
                  <a:srgbClr val="CBD5E1"/>
                </a:solidFill>
                <a:latin typeface="Segoe UI"/>
              </a:rPr>
              <a:t>Only 14 of 92 companies met all criteria for the rigorous Quality Compounder preset (ROE &gt; 15%, D/E &lt; 0.5, OPM &gt; 15%), demonstrating true competitive scarcity.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19856"/>
            <a:ext cx="10698480" cy="777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/>
            <a:r>
              <a:rPr sz="1150" b="1">
                <a:solidFill>
                  <a:srgbClr val="F59E0B"/>
                </a:solidFill>
                <a:latin typeface="Segoe UI"/>
              </a:rPr>
              <a:t>3. Banking Template Duality:  </a:t>
            </a:r>
            <a:r>
              <a:rPr sz="1000">
                <a:solidFill>
                  <a:srgbClr val="CBD5E1"/>
                </a:solidFill>
                <a:latin typeface="Segoe UI"/>
              </a:rPr>
              <a:t>Banking institutions represent ~25% of index market cap but follow statutory RBI schedules. Forcing industrial manufacturing ratios onto banks creates artificial distortion.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06824"/>
            <a:ext cx="10698480" cy="777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/>
            <a:r>
              <a:rPr sz="1150" b="1">
                <a:solidFill>
                  <a:srgbClr val="8B5CF6"/>
                </a:solidFill>
                <a:latin typeface="Segoe UI"/>
              </a:rPr>
              <a:t>4. The IRFC Capital Dynamic:  </a:t>
            </a:r>
            <a:r>
              <a:rPr sz="1000">
                <a:solidFill>
                  <a:srgbClr val="CBD5E1"/>
                </a:solidFill>
                <a:latin typeface="Segoe UI"/>
              </a:rPr>
              <a:t>Indian Railway Finance Corp maintains extreme leverage (D/E &gt; 8.0x) paired with sovereign-backed receivables and near-100% CFO/PAT conversion, operating as a sovereign financing utility.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93792"/>
            <a:ext cx="10698480" cy="777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/>
            <a:r>
              <a:rPr sz="1150" b="1">
                <a:solidFill>
                  <a:srgbClr val="06B6D4"/>
                </a:solidFill>
                <a:latin typeface="Segoe UI"/>
              </a:rPr>
              <a:t>5. Public Data Quality Traps:  </a:t>
            </a:r>
            <a:r>
              <a:rPr sz="1000">
                <a:solidFill>
                  <a:srgbClr val="CBD5E1"/>
                </a:solidFill>
                <a:latin typeface="Segoe UI"/>
              </a:rPr>
              <a:t>Uncovered that commercial data feeds harbor 10x or 100x scale errors in specific Balance Sheet line items (e.g. BEL and HAL). Algorithmic forensic DQ rules are mandatory before quant modeling.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Segoe UI"/>
              </a:defRPr>
            </a:pPr>
            <a:r>
              <a:t>PROJECT DELIVERY &amp; ACCEPTANCE SUMMARY</a:t>
            </a:r>
          </a:p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Results Summary: 6 Sprints Delivered Ahead of Schedule</a:t>
            </a:r>
          </a:p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Uncompromising execution quality and zero-defect delivery across all 23 platform commitments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Segoe UI"/>
              </a:rPr>
              <a:t>N100 Financial Intelligence Platform  •  Bluestock Fintech  •  Varundeep Sengar</a:t>
            </a:r>
          </a:p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Slide 11 of 12  |  Production v1.0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926080"/>
                <a:gridCol w="1463040"/>
                <a:gridCol w="1463040"/>
                <a:gridCol w="3474720"/>
              </a:tblGrid>
              <a:tr h="418011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Sprint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Phase / Core Focus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Target Due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Actual Date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Key Deliverable &amp; Status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B82F6"/>
                          </a:solidFill>
                          <a:latin typeface="Segoe UI"/>
                        </a:defRPr>
                      </a:pPr>
                      <a:r>
                        <a:t>Sprint 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Data Foundation &amp; SQLite ETL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Sept 20, 2026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Sept 19, 2026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db/nifty100.db, 16 DQ Rules (COMPLETE)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B82F6"/>
                          </a:solidFill>
                          <a:latin typeface="Segoe UI"/>
                        </a:defRPr>
                      </a:pPr>
                      <a:r>
                        <a:t>Sprint 2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Ratio Engine &amp; Edge Cases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Sept 27, 2026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Sept 26, 2026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50+ KPIs, 1,155 Rows (COMPLETE)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B82F6"/>
                          </a:solidFill>
                          <a:latin typeface="Segoe UI"/>
                        </a:defRPr>
                      </a:pPr>
                      <a:r>
                        <a:t>Sprint 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Screener &amp; Peer Benchmarking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Oct 04, 2026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Oct 03, 2026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6 Presets, 92 Radar PNGs (COMPLETE)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B82F6"/>
                          </a:solidFill>
                          <a:latin typeface="Segoe UI"/>
                        </a:defRPr>
                      </a:pPr>
                      <a:r>
                        <a:t>Sprint 4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Streamlit Interactive Dashboard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Oct 11, 2026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Oct 10, 2026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8 Live Screens, DCF Engine (COMPLETE)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B82F6"/>
                          </a:solidFill>
                          <a:latin typeface="Segoe UI"/>
                        </a:defRPr>
                      </a:pPr>
                      <a:r>
                        <a:t>Sprint 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Executive Reports &amp; NLP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Oct 18, 2026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Oct 16, 2026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92 Tearsheets, 11 Sector PDFs (COMPLETE)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B82F6"/>
                          </a:solidFill>
                          <a:latin typeface="Segoe UI"/>
                        </a:defRPr>
                      </a:pPr>
                      <a:r>
                        <a:t>Sprint 6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FastAPI, Clustering &amp; QA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Oct 24, 2026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Oct 18, 2026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16 Endpoints, 245 Tests (COMPLETE)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4846320"/>
            <a:ext cx="3383280" cy="1097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sz="1100" b="1">
                <a:solidFill>
                  <a:srgbClr val="3B82F6"/>
                </a:solidFill>
                <a:latin typeface="Segoe UI"/>
              </a:defRPr>
            </a:pPr>
            <a:r>
              <a:t>23 / 23 DELIVERABLES</a:t>
            </a:r>
          </a:p>
          <a:p>
            <a:pPr>
              <a:defRPr sz="1300" b="1">
                <a:solidFill>
                  <a:srgbClr val="F8FAFC"/>
                </a:solidFill>
                <a:latin typeface="Segoe UI"/>
              </a:defRPr>
            </a:pPr>
            <a:r>
              <a:t>100% COMPLETE &amp; AUDITED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846320"/>
            <a:ext cx="3383280" cy="1097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245 AUTOMATED TESTS</a:t>
            </a:r>
          </a:p>
          <a:p>
            <a:pPr>
              <a:defRPr sz="1300" b="1">
                <a:solidFill>
                  <a:srgbClr val="F8FAFC"/>
                </a:solidFill>
                <a:latin typeface="Segoe UI"/>
              </a:defRPr>
            </a:pPr>
            <a:r>
              <a:t>0 FAILURES, 0 REGRESSIONS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4846320"/>
            <a:ext cx="3383280" cy="1097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SUBMISSION TIMELINE</a:t>
            </a:r>
          </a:p>
          <a:p>
            <a:pPr>
              <a:defRPr sz="1300" b="1">
                <a:solidFill>
                  <a:srgbClr val="F8FAFC"/>
                </a:solidFill>
                <a:latin typeface="Segoe UI"/>
              </a:defRPr>
            </a:pPr>
            <a:r>
              <a:t>TAGGED v1.0 AHEAD OF SCHEDULE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Segoe UI"/>
              </a:defRPr>
            </a:pPr>
            <a:r>
              <a:t>PRODUCTION RELEASE &amp; ACCESS VERIFICATION</a:t>
            </a:r>
          </a:p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Thank You: N100 Financial Intelligence Platform</a:t>
            </a:r>
          </a:p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Full institutional equity research infrastructure built for Bluestock Fintech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Segoe UI"/>
              </a:rPr>
              <a:t>N100 Financial Intelligence Platform  •  Bluestock Fintech  •  Varundeep Sengar</a:t>
            </a:r>
          </a:p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Slide 12 of 12  |  Production v1.0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14600" cy="16459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sz="3600" b="1">
                <a:solidFill>
                  <a:srgbClr val="3B82F6"/>
                </a:solidFill>
                <a:latin typeface="Segoe UI"/>
              </a:defRPr>
            </a:pPr>
            <a:r>
              <a:t>92</a:t>
            </a:r>
          </a:p>
          <a:p>
            <a:pPr>
              <a:defRPr sz="1000" b="1">
                <a:solidFill>
                  <a:srgbClr val="F8FAFC"/>
                </a:solidFill>
                <a:latin typeface="Segoe UI"/>
              </a:defRPr>
            </a:pPr>
            <a:r>
              <a:t>COMPANIES INGESTED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10 Audited Years (FY15–FY24)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5576" y="1645920"/>
            <a:ext cx="2514600" cy="16459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sz="3600" b="1">
                <a:solidFill>
                  <a:srgbClr val="10B981"/>
                </a:solidFill>
                <a:latin typeface="Segoe UI"/>
              </a:defRPr>
            </a:pPr>
            <a:r>
              <a:t>50+</a:t>
            </a:r>
          </a:p>
          <a:p>
            <a:pPr>
              <a:defRPr sz="1000" b="1">
                <a:solidFill>
                  <a:srgbClr val="F8FAFC"/>
                </a:solidFill>
                <a:latin typeface="Segoe UI"/>
              </a:defRPr>
            </a:pPr>
            <a:r>
              <a:t>FINANCIAL RATIOS &amp; KPIS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Standardized &amp; Winsorized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645920"/>
            <a:ext cx="2514600" cy="16459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sz="3600" b="1">
                <a:solidFill>
                  <a:srgbClr val="F59E0B"/>
                </a:solidFill>
                <a:latin typeface="Segoe UI"/>
              </a:defRPr>
            </a:pPr>
            <a:r>
              <a:t>245</a:t>
            </a:r>
          </a:p>
          <a:p>
            <a:pPr>
              <a:defRPr sz="1000" b="1">
                <a:solidFill>
                  <a:srgbClr val="F8FAFC"/>
                </a:solidFill>
                <a:latin typeface="Segoe UI"/>
              </a:defRPr>
            </a:pPr>
            <a:r>
              <a:t>TESTS PASSING (100%)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CI/CD Verified via Pytest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33688" y="1645920"/>
            <a:ext cx="2514600" cy="16459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sz="3600" b="1">
                <a:solidFill>
                  <a:srgbClr val="8B5CF6"/>
                </a:solidFill>
                <a:latin typeface="Segoe UI"/>
              </a:defRPr>
            </a:pPr>
            <a:r>
              <a:t>23</a:t>
            </a:r>
          </a:p>
          <a:p>
            <a:pPr>
              <a:defRPr sz="1000" b="1">
                <a:solidFill>
                  <a:srgbClr val="F8FAFC"/>
                </a:solidFill>
                <a:latin typeface="Segoe UI"/>
              </a:defRPr>
            </a:pPr>
            <a:r>
              <a:t>PLATFORM DELIVERABLES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100% Production Ready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66160"/>
            <a:ext cx="10698480" cy="2468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sz="1300" b="1">
                <a:solidFill>
                  <a:srgbClr val="3B82F6"/>
                </a:solidFill>
                <a:latin typeface="Segoe UI"/>
              </a:defRPr>
            </a:pPr>
            <a:r>
              <a:t>PLATFORM RESOURCES &amp; VERIFICATION PORTALS</a:t>
            </a:r>
          </a:p>
          <a:p>
            <a:r>
              <a:rPr sz="1050" b="1">
                <a:solidFill>
                  <a:srgbClr val="F8FAFC"/>
                </a:solidFill>
                <a:latin typeface="Segoe UI"/>
              </a:rPr>
              <a:t>• GitHub Repository: </a:t>
            </a:r>
            <a:r>
              <a:rPr sz="1050">
                <a:solidFill>
                  <a:srgbClr val="CBD5E1"/>
                </a:solidFill>
                <a:latin typeface="Segoe UI"/>
              </a:rPr>
              <a:t>https://github.com/Varundeep09/n100_financial_platform (Release Tag: v1.0)</a:t>
            </a:r>
          </a:p>
          <a:p>
            <a:r>
              <a:rPr sz="1050" b="1">
                <a:solidFill>
                  <a:srgbClr val="F8FAFC"/>
                </a:solidFill>
                <a:latin typeface="Segoe UI"/>
              </a:rPr>
              <a:t>• FastAPI Interactive Documentation: </a:t>
            </a:r>
            <a:r>
              <a:rPr sz="1050">
                <a:solidFill>
                  <a:srgbClr val="CBD5E1"/>
                </a:solidFill>
                <a:latin typeface="Segoe UI"/>
              </a:rPr>
              <a:t>http://localhost:8000/docs (OpenAPI 3.1 specification at docs/openapi.json)</a:t>
            </a:r>
          </a:p>
          <a:p>
            <a:r>
              <a:rPr sz="1050" b="1">
                <a:solidFill>
                  <a:srgbClr val="F8FAFC"/>
                </a:solidFill>
                <a:latin typeface="Segoe UI"/>
              </a:rPr>
              <a:t>• Streamlit 8-Screen Live Dashboard: </a:t>
            </a:r>
            <a:r>
              <a:rPr sz="1050">
                <a:solidFill>
                  <a:srgbClr val="CBD5E1"/>
                </a:solidFill>
                <a:latin typeface="Segoe UI"/>
              </a:rPr>
              <a:t>http://localhost:8501 (Run via: streamlit run src/dashboard/app.py)</a:t>
            </a:r>
          </a:p>
          <a:p>
            <a:r>
              <a:rPr sz="1050" b="1">
                <a:solidFill>
                  <a:srgbClr val="F8FAFC"/>
                </a:solidFill>
                <a:latin typeface="Segoe UI"/>
              </a:rPr>
              <a:t>• Complete Platform Documentation: </a:t>
            </a:r>
            <a:r>
              <a:rPr sz="1050">
                <a:solidFill>
                  <a:srgbClr val="CBD5E1"/>
                </a:solidFill>
                <a:latin typeface="Segoe UI"/>
              </a:rPr>
              <a:t>docs/demo_script.md  •  reports/analyst_guide.pdf  •  reports/acceptance_checklist.pdf</a:t>
            </a:r>
          </a:p>
          <a:p>
            <a:r>
              <a:rPr sz="1050" b="1">
                <a:solidFill>
                  <a:srgbClr val="F8FAFC"/>
                </a:solidFill>
                <a:latin typeface="Segoe UI"/>
              </a:rPr>
              <a:t>• Author &amp; Technical Contact: </a:t>
            </a:r>
            <a:r>
              <a:rPr sz="1050">
                <a:solidFill>
                  <a:srgbClr val="CBD5E1"/>
                </a:solidFill>
                <a:latin typeface="Segoe UI"/>
              </a:rPr>
              <a:t>Varundeep Sengar (Platform Engineering &amp; Quantitative Research, Bluestock Fintech)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